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2c4fd48afd4e5a" /><Relationship Type="http://schemas.openxmlformats.org/officeDocument/2006/relationships/extended-properties" Target="/docProps/app.xml" Id="Raf3d19c8d7054df1" /><Relationship Type="http://schemas.openxmlformats.org/officeDocument/2006/relationships/officeDocument" Target="/ppt/presentation.xml" Id="Reaa2e54cd5db49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3ed7c9591054b96"/>
  </p:sldMasterIdLst>
  <p:notesMasterIdLst>
    <p:notesMasterId xmlns:r="http://schemas.openxmlformats.org/officeDocument/2006/relationships" r:id="Re478d2a107c14d19"/>
  </p:notesMasterIdLst>
  <p:sldIdLst>
    <p:sldId xmlns:r="http://schemas.openxmlformats.org/officeDocument/2006/relationships" id="256" r:id="Rc2d0c68139784e85"/>
    <p:sldId xmlns:r="http://schemas.openxmlformats.org/officeDocument/2006/relationships" id="257" r:id="Rdf45f5613b4a4618"/>
    <p:sldId xmlns:r="http://schemas.openxmlformats.org/officeDocument/2006/relationships" id="258" r:id="Rc67ca793b2b84d5f"/>
    <p:sldId xmlns:r="http://schemas.openxmlformats.org/officeDocument/2006/relationships" id="259" r:id="R2583d4b6d2f9491b"/>
    <p:sldId xmlns:r="http://schemas.openxmlformats.org/officeDocument/2006/relationships" id="260" r:id="R735c62d19e7d4df2"/>
    <p:sldId xmlns:r="http://schemas.openxmlformats.org/officeDocument/2006/relationships" id="261" r:id="Raf33683e2cb94251"/>
    <p:sldId xmlns:r="http://schemas.openxmlformats.org/officeDocument/2006/relationships" id="262" r:id="R571c121b5e314d2b"/>
    <p:sldId xmlns:r="http://schemas.openxmlformats.org/officeDocument/2006/relationships" id="263" r:id="R95a5e51800104fac"/>
    <p:sldId xmlns:r="http://schemas.openxmlformats.org/officeDocument/2006/relationships" id="264" r:id="R9679c76e70564e58"/>
    <p:sldId xmlns:r="http://schemas.openxmlformats.org/officeDocument/2006/relationships" id="265" r:id="Read2f897be6945f1"/>
    <p:sldId xmlns:r="http://schemas.openxmlformats.org/officeDocument/2006/relationships" id="266" r:id="R28a53cd7695c43b6"/>
    <p:sldId xmlns:r="http://schemas.openxmlformats.org/officeDocument/2006/relationships" id="267" r:id="Rfa5322deba5b4ede"/>
    <p:sldId xmlns:r="http://schemas.openxmlformats.org/officeDocument/2006/relationships" id="268" r:id="R6258e01b595e43a2"/>
    <p:sldId xmlns:r="http://schemas.openxmlformats.org/officeDocument/2006/relationships" id="269" r:id="Recc2d7cf15fe41e7"/>
    <p:sldId xmlns:r="http://schemas.openxmlformats.org/officeDocument/2006/relationships" id="270" r:id="R062fe3148de74697"/>
    <p:sldId xmlns:r="http://schemas.openxmlformats.org/officeDocument/2006/relationships" id="271" r:id="R8ad383dc28824f25"/>
    <p:sldId xmlns:r="http://schemas.openxmlformats.org/officeDocument/2006/relationships" id="272" r:id="R1e894e031c9e41f2"/>
    <p:sldId xmlns:r="http://schemas.openxmlformats.org/officeDocument/2006/relationships" id="273" r:id="R8e4a07ee64d74415"/>
    <p:sldId xmlns:r="http://schemas.openxmlformats.org/officeDocument/2006/relationships" id="274" r:id="Rb067c75a3e5b42c2"/>
    <p:sldId xmlns:r="http://schemas.openxmlformats.org/officeDocument/2006/relationships" id="275" r:id="Rc789fc6d6d17446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3eb3fb336d4ddc" /><Relationship Type="http://schemas.openxmlformats.org/officeDocument/2006/relationships/slideMaster" Target="/ppt/slideMasters/slideMaster1.xml" Id="Rb3ed7c9591054b96" /><Relationship Type="http://schemas.openxmlformats.org/officeDocument/2006/relationships/notesMaster" Target="/ppt/notesMasters/notesMaster1.xml" Id="Re478d2a107c14d19" /><Relationship Type="http://schemas.openxmlformats.org/officeDocument/2006/relationships/presProps" Target="/ppt/presProps.xml" Id="R262c0e31accc4e2b" /><Relationship Type="http://schemas.openxmlformats.org/officeDocument/2006/relationships/tableStyles" Target="/ppt/tableStyles.xml" Id="R0ba7c4f1c4284b80" /><Relationship Type="http://schemas.openxmlformats.org/officeDocument/2006/relationships/slide" Target="/ppt/slides/slide1.xml" Id="Rc2d0c68139784e85" /><Relationship Type="http://schemas.openxmlformats.org/officeDocument/2006/relationships/slide" Target="/ppt/slides/slide2.xml" Id="Rdf45f5613b4a4618" /><Relationship Type="http://schemas.openxmlformats.org/officeDocument/2006/relationships/slide" Target="/ppt/slides/slide3.xml" Id="Rc67ca793b2b84d5f" /><Relationship Type="http://schemas.openxmlformats.org/officeDocument/2006/relationships/slide" Target="/ppt/slides/slide4.xml" Id="R2583d4b6d2f9491b" /><Relationship Type="http://schemas.openxmlformats.org/officeDocument/2006/relationships/slide" Target="/ppt/slides/slide5.xml" Id="R735c62d19e7d4df2" /><Relationship Type="http://schemas.openxmlformats.org/officeDocument/2006/relationships/slide" Target="/ppt/slides/slide6.xml" Id="Raf33683e2cb94251" /><Relationship Type="http://schemas.openxmlformats.org/officeDocument/2006/relationships/slide" Target="/ppt/slides/slide7.xml" Id="R571c121b5e314d2b" /><Relationship Type="http://schemas.openxmlformats.org/officeDocument/2006/relationships/slide" Target="/ppt/slides/slide8.xml" Id="R95a5e51800104fac" /><Relationship Type="http://schemas.openxmlformats.org/officeDocument/2006/relationships/slide" Target="/ppt/slides/slide9.xml" Id="R9679c76e70564e58" /><Relationship Type="http://schemas.openxmlformats.org/officeDocument/2006/relationships/slide" Target="/ppt/slides/slide10.xml" Id="Read2f897be6945f1" /><Relationship Type="http://schemas.openxmlformats.org/officeDocument/2006/relationships/slide" Target="/ppt/slides/slide11.xml" Id="R28a53cd7695c43b6" /><Relationship Type="http://schemas.openxmlformats.org/officeDocument/2006/relationships/slide" Target="/ppt/slides/slide12.xml" Id="Rfa5322deba5b4ede" /><Relationship Type="http://schemas.openxmlformats.org/officeDocument/2006/relationships/slide" Target="/ppt/slides/slide13.xml" Id="R6258e01b595e43a2" /><Relationship Type="http://schemas.openxmlformats.org/officeDocument/2006/relationships/slide" Target="/ppt/slides/slide14.xml" Id="Recc2d7cf15fe41e7" /><Relationship Type="http://schemas.openxmlformats.org/officeDocument/2006/relationships/slide" Target="/ppt/slides/slide15.xml" Id="R062fe3148de74697" /><Relationship Type="http://schemas.openxmlformats.org/officeDocument/2006/relationships/slide" Target="/ppt/slides/slide16.xml" Id="R8ad383dc28824f25" /><Relationship Type="http://schemas.openxmlformats.org/officeDocument/2006/relationships/slide" Target="/ppt/slides/slide17.xml" Id="R1e894e031c9e41f2" /><Relationship Type="http://schemas.openxmlformats.org/officeDocument/2006/relationships/slide" Target="/ppt/slides/slide18.xml" Id="R8e4a07ee64d74415" /><Relationship Type="http://schemas.openxmlformats.org/officeDocument/2006/relationships/slide" Target="/ppt/slides/slide19.xml" Id="Rb067c75a3e5b42c2" /><Relationship Type="http://schemas.openxmlformats.org/officeDocument/2006/relationships/slide" Target="/ppt/slides/slide20.xml" Id="Rc789fc6d6d1744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5b83e1b9754c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c36bed7afa4f38" /><Relationship Type="http://schemas.openxmlformats.org/officeDocument/2006/relationships/notesMaster" Target="/ppt/notesMasters/notesMaster1.xml" Id="R61e14b2de5f64c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7889accae54ad2" /><Relationship Type="http://schemas.openxmlformats.org/officeDocument/2006/relationships/notesMaster" Target="/ppt/notesMasters/notesMaster1.xml" Id="R0f454243b0514e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7de199b21040d0" /><Relationship Type="http://schemas.openxmlformats.org/officeDocument/2006/relationships/notesMaster" Target="/ppt/notesMasters/notesMaster1.xml" Id="R89a783a2d34e4a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77d6ceff714c74" /><Relationship Type="http://schemas.openxmlformats.org/officeDocument/2006/relationships/notesMaster" Target="/ppt/notesMasters/notesMaster1.xml" Id="R8e3a1b0709c04d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99e7fa12df4014" /><Relationship Type="http://schemas.openxmlformats.org/officeDocument/2006/relationships/notesMaster" Target="/ppt/notesMasters/notesMaster1.xml" Id="R4bea377fdac646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d5348edfab49ba" /><Relationship Type="http://schemas.openxmlformats.org/officeDocument/2006/relationships/notesMaster" Target="/ppt/notesMasters/notesMaster1.xml" Id="R2baa76039ba243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f6cec2f0a574011" /><Relationship Type="http://schemas.openxmlformats.org/officeDocument/2006/relationships/notesMaster" Target="/ppt/notesMasters/notesMaster1.xml" Id="Rdad942c18961476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883b35e8f04b42" /><Relationship Type="http://schemas.openxmlformats.org/officeDocument/2006/relationships/notesMaster" Target="/ppt/notesMasters/notesMaster1.xml" Id="Reff33a69d04246c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f9075abb354150" /><Relationship Type="http://schemas.openxmlformats.org/officeDocument/2006/relationships/notesMaster" Target="/ppt/notesMasters/notesMaster1.xml" Id="Re9668372975b498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fbefd88f1264182" /><Relationship Type="http://schemas.openxmlformats.org/officeDocument/2006/relationships/notesMaster" Target="/ppt/notesMasters/notesMaster1.xml" Id="R95dc4c6886e4437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e9c43643364543" /><Relationship Type="http://schemas.openxmlformats.org/officeDocument/2006/relationships/notesMaster" Target="/ppt/notesMasters/notesMaster1.xml" Id="Re68871e56f44418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020453b55924a4e" /><Relationship Type="http://schemas.openxmlformats.org/officeDocument/2006/relationships/notesMaster" Target="/ppt/notesMasters/notesMaster1.xml" Id="R1acb014e91f9447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d5947e6b2d74fed" /><Relationship Type="http://schemas.openxmlformats.org/officeDocument/2006/relationships/notesMaster" Target="/ppt/notesMasters/notesMaster1.xml" Id="R5205ebbdc65e418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f695acc5a6344c2" /><Relationship Type="http://schemas.openxmlformats.org/officeDocument/2006/relationships/notesMaster" Target="/ppt/notesMasters/notesMaster1.xml" Id="R639413d1c5c84bf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47884c506a14a66" /><Relationship Type="http://schemas.openxmlformats.org/officeDocument/2006/relationships/notesMaster" Target="/ppt/notesMasters/notesMaster1.xml" Id="Rf9250ac8bae8449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fd3c4edc4ec4502" /><Relationship Type="http://schemas.openxmlformats.org/officeDocument/2006/relationships/notesMaster" Target="/ppt/notesMasters/notesMaster1.xml" Id="R358ee7bc89d0417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cffcdad241a4944" /><Relationship Type="http://schemas.openxmlformats.org/officeDocument/2006/relationships/notesMaster" Target="/ppt/notesMasters/notesMaster1.xml" Id="Rcc17a2eef9a54fb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c6842c70a9a45af" /><Relationship Type="http://schemas.openxmlformats.org/officeDocument/2006/relationships/notesMaster" Target="/ppt/notesMasters/notesMaster1.xml" Id="R431e7f48122f4ec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cb8b8b84d624558" /><Relationship Type="http://schemas.openxmlformats.org/officeDocument/2006/relationships/notesMaster" Target="/ppt/notesMasters/notesMaster1.xml" Id="Rc64df735d83046b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0369f7dd2914422" /><Relationship Type="http://schemas.openxmlformats.org/officeDocument/2006/relationships/notesMaster" Target="/ppt/notesMasters/notesMaster1.xml" Id="Rbb9c586938f247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2026 제6회 K-인공지능 제조데이터 분석 경진대회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보고서 제1장; #42 품질 / #41 설비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보고서 1.2·2.3절; 고정 분할 · train 분위 정렬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OCT06_RESEARCH_PROTOCOL.md; selection.json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summary.csv; n=1,387 / 양성272; 3seed 평균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comparisons.csv; adoption_decisions.json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oct08_fusion/summary.csv; RF · 3 seed 평균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summary.csv; S_FB forward reused test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feedback_sensitivity.csv; frozen S_FB; reused test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demo_output.json; q42_r0_s1000; logistic log-odds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diagnostic_examples.csv; 사후 진단용 첫 row_id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팀 add 고정 모델 재현; 5 seed · 같은 구간 test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oct08_crossed_search · oct08_window_search · 보고서 2.5–2.7절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joint_support.csv; pair_interactions.csv; reader_support_audit.csv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castguard/submission_reader.py; demo.html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oct03_round7/group_metrics.csv; 기존 동결 causal queue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팀 add Gate 재현; 5 seed · 지연 정상 회신 가정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cost_scenarios.csv; 임계값 기준 가상검사; 검사비=1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submission/CastGuard_source.zip; README; 검수 명세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근거: 보고서 제2–5장; reader_uncertainty.json</a:t>
            </a:r>
          </a:p>
          <a:p xmlns:a="http://schemas.openxmlformats.org/drawingml/2006/main">
            <a:r>
              <a:t>재사용 데이터의 탐색 평가. 현장 효과·인과·독립 미래 성능으로 해석하지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3dc79cfdd9465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28121cf8b949a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92a74e9d9543c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f404ea06714af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07d751e0e04d7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543a61b2244bb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C7DFEB-7693-4AAD-9DCD-49777DA1F9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6B6FCD8-4CB3-4FFB-9C2F-D6CD5913A1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6E45FE2-539B-4FB8-8B37-7936F94C34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8E57D61-88D8-4BF9-A04A-2942984A9A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482C6A1-6292-4B24-9CE8-B91C556C178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A7CF606-7C47-4FE6-ABD9-5E325AE5F1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3839897-CFB7-4C9E-B148-5F4B71C94F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0901481-2E53-4323-9979-79080816411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9E56124-EBEB-4F6F-8DF4-40F592B276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E9D8440-262D-48AA-B62B-85A1B88396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473ceb45f74d4a" /><Relationship Type="http://schemas.openxmlformats.org/officeDocument/2006/relationships/slideLayout" Target="/ppt/slideLayouts/slideLayout1.xml" Id="R1b5b0766389b4168" /><Relationship Type="http://schemas.openxmlformats.org/officeDocument/2006/relationships/slideLayout" Target="/ppt/slideLayouts/slideLayout2.xml" Id="R49ead062a99b45e5" /><Relationship Type="http://schemas.openxmlformats.org/officeDocument/2006/relationships/slideLayout" Target="/ppt/slideLayouts/slideLayout3.xml" Id="R02bef4952ad34076" /><Relationship Type="http://schemas.openxmlformats.org/officeDocument/2006/relationships/slideLayout" Target="/ppt/slideLayouts/slideLayout4.xml" Id="Ra2f60e7db120403f" /><Relationship Type="http://schemas.openxmlformats.org/officeDocument/2006/relationships/slideLayout" Target="/ppt/slideLayouts/slideLayout5.xml" Id="Rbf479e523ec147c2" /><Relationship Type="http://schemas.openxmlformats.org/officeDocument/2006/relationships/slideLayout" Target="/ppt/slideLayouts/slideLayout6.xml" Id="Rfb6ce4a8dceb42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5b0766389b4168"/>
    <p:sldLayoutId xmlns:r="http://schemas.openxmlformats.org/officeDocument/2006/relationships" id="2147483650" r:id="R49ead062a99b45e5"/>
    <p:sldLayoutId xmlns:r="http://schemas.openxmlformats.org/officeDocument/2006/relationships" id="2147483651" r:id="R02bef4952ad34076"/>
    <p:sldLayoutId xmlns:r="http://schemas.openxmlformats.org/officeDocument/2006/relationships" id="2147483652" r:id="Ra2f60e7db120403f"/>
    <p:sldLayoutId xmlns:r="http://schemas.openxmlformats.org/officeDocument/2006/relationships" id="2147483653" r:id="Rbf479e523ec147c2"/>
    <p:sldLayoutId xmlns:r="http://schemas.openxmlformats.org/officeDocument/2006/relationships" id="2147483654" r:id="Rfb6ce4a8dceb42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f9571f406242d6" /><Relationship Type="http://schemas.openxmlformats.org/officeDocument/2006/relationships/notesSlide" Target="/ppt/notesSlides/notesSlide1.xml" Id="R6062f665719b4e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f1d4fae2a642e3" /><Relationship Type="http://schemas.openxmlformats.org/officeDocument/2006/relationships/notesSlide" Target="/ppt/notesSlides/notesSlide2.xml" Id="R20b0891e00ce41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fe60e85050467b" /><Relationship Type="http://schemas.openxmlformats.org/officeDocument/2006/relationships/notesSlide" Target="/ppt/notesSlides/notesSlide3.xml" Id="Ra909d4c6054a42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0e8511dd25400a" /><Relationship Type="http://schemas.openxmlformats.org/officeDocument/2006/relationships/notesSlide" Target="/ppt/notesSlides/notesSlide4.xml" Id="R3b511daf14874c8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9e9c20800f4fa2" /><Relationship Type="http://schemas.openxmlformats.org/officeDocument/2006/relationships/chart" Target="/ppt/slides/charts/chart1.xml" Id="Rd50c9b0c73544658" /><Relationship Type="http://schemas.openxmlformats.org/officeDocument/2006/relationships/notesSlide" Target="/ppt/notesSlides/notesSlide5.xml" Id="Re40a463e261644b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e0dbaaa6d94650" /><Relationship Type="http://schemas.openxmlformats.org/officeDocument/2006/relationships/notesSlide" Target="/ppt/notesSlides/notesSlide6.xml" Id="R24a33a0e1e954b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6e94dc267a4af6" /><Relationship Type="http://schemas.openxmlformats.org/officeDocument/2006/relationships/notesSlide" Target="/ppt/notesSlides/notesSlide7.xml" Id="R01b85d698b034f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227de642ea45e3" /><Relationship Type="http://schemas.openxmlformats.org/officeDocument/2006/relationships/chart" Target="/ppt/slides/charts/chart2.xml" Id="Rda8c854da9f24171" /><Relationship Type="http://schemas.openxmlformats.org/officeDocument/2006/relationships/notesSlide" Target="/ppt/notesSlides/notesSlide8.xml" Id="Rfcd6ace02f7c41a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d7b27e458a4737" /><Relationship Type="http://schemas.openxmlformats.org/officeDocument/2006/relationships/notesSlide" Target="/ppt/notesSlides/notesSlide9.xml" Id="R4f91172818bf4d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5f93a45e754547" /><Relationship Type="http://schemas.openxmlformats.org/officeDocument/2006/relationships/notesSlide" Target="/ppt/notesSlides/notesSlide10.xml" Id="R6d49d7a3c8fc47e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508cf79907431a" /><Relationship Type="http://schemas.openxmlformats.org/officeDocument/2006/relationships/notesSlide" Target="/ppt/notesSlides/notesSlide11.xml" Id="R148f90daf9cb4d1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ad79cd99c0433c" /><Relationship Type="http://schemas.openxmlformats.org/officeDocument/2006/relationships/notesSlide" Target="/ppt/notesSlides/notesSlide12.xml" Id="R5e592888a681475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be2e5883d54175" /><Relationship Type="http://schemas.openxmlformats.org/officeDocument/2006/relationships/notesSlide" Target="/ppt/notesSlides/notesSlide13.xml" Id="R0cfa0a63ddb84af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125d11aa134920" /><Relationship Type="http://schemas.openxmlformats.org/officeDocument/2006/relationships/notesSlide" Target="/ppt/notesSlides/notesSlide14.xml" Id="R6707c1b412a449f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9a46a42d12431e" /><Relationship Type="http://schemas.openxmlformats.org/officeDocument/2006/relationships/notesSlide" Target="/ppt/notesSlides/notesSlide15.xml" Id="R2ed572836644405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8adbcd54d64e2e" /><Relationship Type="http://schemas.openxmlformats.org/officeDocument/2006/relationships/notesSlide" Target="/ppt/notesSlides/notesSlide16.xml" Id="Rc6eadb1ac73a48b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30927917d64db3" /><Relationship Type="http://schemas.openxmlformats.org/officeDocument/2006/relationships/notesSlide" Target="/ppt/notesSlides/notesSlide17.xml" Id="R73de9c72705741b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cfb8ed358b4106" /><Relationship Type="http://schemas.openxmlformats.org/officeDocument/2006/relationships/notesSlide" Target="/ppt/notesSlides/notesSlide18.xml" Id="Rbe63404c33b2468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4f13d321e24219" /><Relationship Type="http://schemas.openxmlformats.org/officeDocument/2006/relationships/notesSlide" Target="/ppt/notesSlides/notesSlide19.xml" Id="R98d981d99d9a415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b9ed702a9a4eca" /><Relationship Type="http://schemas.openxmlformats.org/officeDocument/2006/relationships/notesSlide" Target="/ppt/notesSlides/notesSlide20.xml" Id="Rf63d053a944741a2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재사용 test AP</c:v>
          </c:tx>
          <c:spPr>
            <a:solidFill xmlns:a="http://schemas.openxmlformats.org/drawingml/2006/main">
              <a:srgbClr val="2864DC"/>
            </a:solidFill>
          </c:spPr>
          <c:cat>
            <c:strRef>
              <c:f>'Chart Data'!$A$2:$A$8</c:f>
              <c:strCache>
                <c:ptCount val="7"/>
                <c:pt idx="0">
                  <c:v>P</c:v>
                </c:pt>
                <c:pt idx="1">
                  <c:v>H</c:v>
                </c:pt>
                <c:pt idx="2">
                  <c:v>S</c:v>
                </c:pt>
                <c:pt idx="3">
                  <c:v>SH</c:v>
                </c:pt>
                <c:pt idx="4">
                  <c:v>FB</c:v>
                </c:pt>
                <c:pt idx="5">
                  <c:v>S_FB</c:v>
                </c:pt>
                <c:pt idx="6">
                  <c:v>SH_FB</c:v>
                </c:pt>
              </c:strCache>
            </c:strRef>
          </c:cat>
          <c:val>
            <c:numRef>
              <c:f>'Chart Data'!$B$2:$B$8</c:f>
              <c:numCache>
                <c:formatCode>0.000</c:formatCode>
                <c:ptCount val="7"/>
                <c:pt idx="0">
                  <c:v>0.341676</c:v>
                </c:pt>
                <c:pt idx="1">
                  <c:v>0.337545</c:v>
                </c:pt>
                <c:pt idx="2">
                  <c:v>0.371336</c:v>
                </c:pt>
                <c:pt idx="3">
                  <c:v>0.324836</c:v>
                </c:pt>
                <c:pt idx="4">
                  <c:v>0.35506</c:v>
                </c:pt>
                <c:pt idx="5">
                  <c:v>0.384501</c:v>
                </c:pt>
                <c:pt idx="6">
                  <c:v>0.343036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172B43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  <c:max val="0.5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D6E0EB"/>
              </a:solidFill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AUC</c:v>
          </c:tx>
          <c:spPr>
            <a:solidFill xmlns:a="http://schemas.openxmlformats.org/drawingml/2006/main">
              <a:srgbClr val="B57537"/>
            </a:solidFill>
          </c:spPr>
          <c:cat>
            <c:strRef>
              <c:f>'Chart Data'!$A$2:$A$5</c:f>
              <c:strCache>
                <c:ptCount val="4"/>
                <c:pt idx="0">
                  <c:v>run 2</c:v>
                </c:pt>
                <c:pt idx="1">
                  <c:v>run 3</c:v>
                </c:pt>
                <c:pt idx="2">
                  <c:v>run 4</c:v>
                </c:pt>
                <c:pt idx="3">
                  <c:v>run 6</c:v>
                </c:pt>
              </c:strCache>
            </c:strRef>
          </c:cat>
          <c:val>
            <c:numRef>
              <c:f>'Chart Data'!$B$2:$B$5</c:f>
              <c:numCache>
                <c:formatCode>0.000</c:formatCode>
                <c:ptCount val="4"/>
                <c:pt idx="0">
                  <c:v>0.357143</c:v>
                </c:pt>
                <c:pt idx="1">
                  <c:v>0.432247</c:v>
                </c:pt>
                <c:pt idx="2">
                  <c:v>0.565503</c:v>
                </c:pt>
                <c:pt idx="3">
                  <c:v>0.513085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172B43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4763">
              <a:solidFill>
                <a:srgbClr val="D6E0EB"/>
              </a:solidFill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C036BB-45F3-41B1-8D8A-50BA2E97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CastGuard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619334-1060-4D1A-B384-1CA1736F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1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BBA03D-30BD-4839-B5B5-7DF936AD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2026 제6회 K-인공지능 제조데이터 분석 경진대회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37257F-4E78-4D62-9253-EA1E796C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5727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3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근거를 설명하는</a:t>
            </a:r>
          </a:p>
          <a:p xmlns:a="http://schemas.openxmlformats.org/drawingml/2006/main">
            <a:pPr>
              <a:defRPr sz="43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품질검사 의사결정 지원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85AF67-2802-4E5B-A2BD-49230AA9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RE제조부터시작하는이세계생활</a:t>
            </a:r>
          </a:p>
          <a:p xmlns:a="http://schemas.openxmlformats.org/drawingml/2006/main">
            <a:pPr>
              <a:defRPr sz="20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팀장 정가현 · 팀원 신종훈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331758-725E-45E1-BEB6-72081983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763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864DC"/>
                </a:solidFill>
                <a:latin typeface="Malgun Gothic"/>
                <a:ea typeface="Malgun Gothic"/>
                <a:cs typeface="Malgun Gothic"/>
              </a:rPr>
              <a:t>공정 완료 후 최종검사 전 · 오프라인 연구와 현장 적용 기본설계</a:t>
            </a:r>
          </a:p>
        </p:txBody>
      </p:sp>
    </p:spTree>
    <p:extLst>
      <p:ext uri="{BB962C8B-B14F-4D97-AF65-F5344CB8AC3E}">
        <p14:creationId xmlns:p14="http://schemas.microsoft.com/office/powerpoint/2010/main" val="9927803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FDAA68-F6CA-44BB-A59C-01E8EAF5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추가검사 대상을 고르는 품질 문제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CFCB7F-5044-4DCA-BFF9-E2FEAF7F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2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BCCBB-4E67-4781-959F-51D5B820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보고서 제1장; #42 품질 / #41 설비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8C32A-910E-4634-B883-A7C2073F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대상: 익명 다이캐스팅 기업 시나리오의 제품군 1·2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A6B0AC-89EA-4911-B3B5-99C5EBB5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한 Shot의 13종·26개 품질 항목 중 하나라도 불량이면 양성</a:t>
            </a:r>
          </a:p>
          <a:p xmlns:a="http://schemas.openxmlformats.org/drawingml/2006/main">
            <a:pPr>
              <a:defRPr sz="225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기존 최종검사는 유지하고 추가검사 용량 20%를 가정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4D75B-B837-426E-975A-C85ACC44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rPr>
              <a:t>공정 완료 관측 → 위험 점수 → 추가검사 검토 → 최종검사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DB9AA3-8AF3-435E-984C-C688D346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실제 기업 실증·검사비·수신시각은 확보되지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6597236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90A2D4-2AB0-4363-B7AD-AE7D5CE4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세 데이터의 역할과 연결 단계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DB46D1-3281-498B-824F-84F8BDD7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3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27F60-BC8F-4602-968F-E0CF560D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보고서 1.2·2.3절; 고정 분할 · train 분위 정렬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CF3D7-40B4-4F7C-A2EB-238E579D2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rPr>
              <a:t>#42  품질·공정·센서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3BDD7-3BAC-40D2-A7DA-03E97574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현재 관측  +  도착한 과거 검사 회신  →  품질 위험과 개별 설명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1C4C6A-E799-46E8-AFAB-90166C4E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#41  설비 이력·상태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FC6DC9-CD35-4455-9BE6-632D799A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과거 이력 → 품질 입력 비교     상태 Gate → 품질·설비 담당자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F1E998-994D-4FB2-A39A-7F8424F3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#40  다른 공정의 주조 데이터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7F6B26-EB23-42AE-B0DD-D4341054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train 분위 정렬 → 전이 점수 비교     온도 제거 → 수집 후보 제안</a:t>
            </a:r>
          </a:p>
        </p:txBody>
      </p:sp>
    </p:spTree>
    <p:extLst>
      <p:ext uri="{BB962C8B-B14F-4D97-AF65-F5344CB8AC3E}">
        <p14:creationId xmlns:p14="http://schemas.microsoft.com/office/powerpoint/2010/main" val="11180124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F29EA9-F564-435E-A4BE-6EA36E82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validation에서 선택하고 결과를 고정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528925-D0D2-4CBC-B127-9D57FB7E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4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3CE550-3E1D-41B6-8624-30DAA9C8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OCT06_RESEARCH_PROTOCOL.md; selection.json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B813FD-2F08-41F4-ABF1-5E06F8F6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rPr>
              <a:t>7개 입력 구성 × 5개 모델 × 3 seed × 5 고정 분할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BE9102-CEBF-4FE9-96F4-42232A279C7F}"/>
              </a:ext>
            </a:extLst>
          </p:cNvPr>
          <p:cNvGraphicFramePr/>
          <p:nvPr/>
        </p:nvGraphicFramePr>
        <p:xfrm>
          <a:off xmlns:a="http://schemas.openxmlformats.org/drawingml/2006/main" x="609600" y="2524125"/>
          <a:ext xmlns:a="http://schemas.openxmlformats.org/drawingml/2006/main" cx="10972800" cy="2619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8401050"/>
              </a:tblGrid>
              <a:tr h="52387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고정한 기준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구간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train 2,579 / validation 647 / test 1,387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미래 구간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forward run 2·3·4·6, 각 fold에서만 후보 선택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Logistic · RF · LightGBM · Ordered CatBoost · HGB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시점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과거 검사 결과가 20개 공정 event 후 도착한다고 가정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41E39F-E3E0-42F5-972B-F3B2041E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525회는 탐색량입니다. 기존에 노출된 test를 독립 검증으로 부르지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2739412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F2B8AD-3D10-4132-AEB8-5124C673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같은 구간 AP는 0.3845까지 개선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4F047-C88E-4470-AE44-8867AC66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5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6222EF-A9F2-48C9-8268-905B34EC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summary.csv; n=1,387 / 양성272; 3seed 평균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840437EA-8165-4823-83DE-4DC01D8A44B9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0c9b0c73544658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473478-C515-4F87-B089-BFFE5539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S: 공정·센서 0.3713 → S_FB: 과거 검사 결과 추가 0.3845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F62645-89DC-4384-8849-69DEB785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불량률의 2배 목표 0.3922에는 미달 · AUC 0.7378 · 20% 포착 117/272</a:t>
            </a:r>
          </a:p>
        </p:txBody>
      </p:sp>
    </p:spTree>
    <p:extLst>
      <p:ext uri="{BB962C8B-B14F-4D97-AF65-F5344CB8AC3E}">
        <p14:creationId xmlns:p14="http://schemas.microsoft.com/office/powerpoint/2010/main" val="20443834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DFF243-8EC8-4D57-A85A-E69BDD4C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검사 피드백과 설비 이력의 효과를 분리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BC104-6BC7-49CB-8A22-39087804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6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5AE481-C1BD-40A9-B6DA-1D1737E7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comparisons.csv; adoption_decisions.json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922450-A64A-453A-AB8E-C8DB69B86F31}"/>
              </a:ext>
            </a:extLst>
          </p:cNvPr>
          <p:cNvGraphicFramePr/>
          <p:nvPr/>
        </p:nvGraphicFramePr>
        <p:xfrm>
          <a:off xmlns:a="http://schemas.openxmlformats.org/drawingml/2006/main" x="609600" y="1666875"/>
          <a:ext xmlns:a="http://schemas.openxmlformats.org/drawingml/2006/main" cx="109728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162550"/>
                <a:gridCol w="2905125"/>
                <a:gridCol w="2905125"/>
              </a:tblGrid>
              <a:tr h="6477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추가 정보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validation AP 차이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재사용 test AP 차이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#41 이력: H − P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+0.0133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−0.0041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#41 이력: SH − S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−0.0150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−0.0465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과거 검사: S_FB − S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+0.0918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+0.0132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#41 이력: SH_FB − S_FB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−0.0127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−0.0415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3741A5-5180-4031-BD5D-0DB5D699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피드백은 #42 과거 정답입니다. #41 융합 성공으로 계산하지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79238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0F40F-D006-4BAE-AD03-F7559325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네 가지 데이터 조합을 같은 모델로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205AF6-A0C7-4BBD-A8D1-2A075A880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7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157B76-1409-4C15-972A-DC11F7E5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oct08_fusion/summary.csv; RF · 3 seed 평균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C4A796-83D8-4D6A-8A9A-C5800375023F}"/>
              </a:ext>
            </a:extLst>
          </p:cNvPr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109728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1885950"/>
                <a:gridCol w="1885950"/>
                <a:gridCol w="1885950"/>
                <a:gridCol w="1885950"/>
              </a:tblGrid>
              <a:tr h="5524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조합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val AP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test AP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test AUC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20% 포착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#42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0.3302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0.3263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0.7070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32.97%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#42 + #41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0.3276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0.3248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0.7080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33.33%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#42 + #40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0.3340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0.3232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0.7057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32.35%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#42 + #41 + #40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0.3322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0.3228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0.7055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32.48%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8B1B6-E36B-4DDD-9132-1D51DEDF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rPr>
              <a:t>모두 같은 1,387건 / 불량 272건 / 검사 277건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8E2C80-9D21-437B-9ADB-36E8FEB0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#40 전이의 validation AP +0.0038: 사전 기준 +0.02 미달</a:t>
            </a:r>
          </a:p>
          <a:p xmlns:a="http://schemas.openxmlformats.org/drawingml/2006/main">
            <a:pPr>
              <a:def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피드백 포함 네 조합과 로지스틱에서도 추가 입력 채택 기준 미달</a:t>
            </a:r>
          </a:p>
        </p:txBody>
      </p:sp>
    </p:spTree>
    <p:extLst>
      <p:ext uri="{BB962C8B-B14F-4D97-AF65-F5344CB8AC3E}">
        <p14:creationId xmlns:p14="http://schemas.microsoft.com/office/powerpoint/2010/main" val="8364353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36FA37-54A4-448A-842B-6C6BFFCC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새로운 미래 구간에서는 성능이 약하다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EB33C-1E9E-4AAC-A097-128D14B4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8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84B6C2-852A-4332-9517-CE8927AE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summary.csv; S_FB forward reused test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482B8816-E686-40F0-A0D7-BCD3C72B8457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8c854da9f2417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73943-3A50-4AD0-8ED6-8CCD9922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4개 forward validation의 일관성 기준 미통과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5FA633-2915-4C6E-BDBE-3EE5BF64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제품·시간·run 효과가 혼재합니다. 미래 현장 적용 성공은 미입증입니다.</a:t>
            </a:r>
          </a:p>
        </p:txBody>
      </p:sp>
    </p:spTree>
    <p:extLst>
      <p:ext uri="{BB962C8B-B14F-4D97-AF65-F5344CB8AC3E}">
        <p14:creationId xmlns:p14="http://schemas.microsoft.com/office/powerpoint/2010/main" val="3741891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40DCD3-DCE8-42E5-8157-B53CB881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검사 결과가 늦으면 이점이 줄어든다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09A55C-3057-4E3E-BDB1-F7174750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9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7523CB-D224-4D25-A781-57CF3010B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feedback_sensitivity.csv; frozen S_FB; reused test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82338-A7BC-4EB5-A964-D0ECFAED878A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019800"/>
                <a:gridCol w="2476500"/>
                <a:gridCol w="2476500"/>
              </a:tblGrid>
              <a:tr h="56356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회신 조건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20% 포착률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</a:tr>
              <a:tr h="563563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 event 지연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0.3934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43.75%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63563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 event 지연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0.3837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40.81%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63563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 event 지연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0.3504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36.76%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63563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관측률20%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0.3512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43.01%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63563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test 구간 정답 회신 없음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0.3645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37.87%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B09E57-40BE-4456-B244-DDB2431F8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기본 20 event: AP 0.3845 / 포착 43.01% · 결과에 맞춰 지연 가정을 바꾸지 않음</a:t>
            </a:r>
          </a:p>
        </p:txBody>
      </p:sp>
    </p:spTree>
    <p:extLst>
      <p:ext uri="{BB962C8B-B14F-4D97-AF65-F5344CB8AC3E}">
        <p14:creationId xmlns:p14="http://schemas.microsoft.com/office/powerpoint/2010/main" val="4226200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46241-EF80-43B9-ADA4-7BBE667B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한 Shot의 점수를 정확히 설명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7C13DE-EB45-42B8-9EAF-C15F18D1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10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E5F41A-4880-4041-9EE4-E71A5E71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demo_output.json; q42_r0_s1000; logistic log-odds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D619D5-D2F0-4594-8B3E-0AFBB7D81582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353050"/>
                <a:gridCol w="2476500"/>
                <a:gridCol w="3143250"/>
              </a:tblGrid>
              <a:tr h="5159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변수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원자료 값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 기여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</a:tr>
              <a:tr h="515938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Factory_Humidity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46.4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+0.8413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15938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Factory_Temp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36.5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-0.7459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15938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Clamping_Force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257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-0.7323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15938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Spray_1_Time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-0.7284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15938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Spray_2_Time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+0.6835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F68EA-1ECC-4EF9-8F0E-004F2755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rPr>
              <a:t>위험 점수 0.2793 / 기준 0.3134 · 절편 + 기여 합으로 실제 점수 재구성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40AE34-9511-4936-8D57-2382026F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기여는 예측의 설명입니다. 물리적 원인이나 설정 변경 효과는 아닙니다.</a:t>
            </a:r>
          </a:p>
        </p:txBody>
      </p:sp>
    </p:spTree>
    <p:extLst>
      <p:ext uri="{BB962C8B-B14F-4D97-AF65-F5344CB8AC3E}">
        <p14:creationId xmlns:p14="http://schemas.microsoft.com/office/powerpoint/2010/main" val="8610364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AC00FD-A4B0-4A62-807F-64620EF3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맞힌 사례와 실제 오류를 함께 제시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74360D-BC58-4C46-9A1B-5CD0D59B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11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E8C1BA-64FD-47DA-BA69-4D86AD48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diagnostic_examples.csv; 사후 진단용 첫 row_id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2C04FC-6984-4DDF-816A-5FE429F60B20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5067300"/>
                <a:gridCol w="2095500"/>
                <a:gridCol w="2095500"/>
              </a:tblGrid>
              <a:tr h="5524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유형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Shot 식별자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위험 점수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정답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TN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q42_r0_s1000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0.2793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FN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q42_r0_s1001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0.2665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FP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q42_r0_s1017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0.3467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TP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q42_r0_s1018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0.3270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4A9330-B75D-4C7B-A3C9-77ED8A70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고정 기준: TP 80 · FP 106 · FN 192 · TN 1,009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BA8988-50E1-4050-9A5A-A525AC25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1097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정상 FPR 9.51% · 사후 top-k 20% 검사와 다른 평가입니다.</a:t>
            </a:r>
          </a:p>
        </p:txBody>
      </p:sp>
    </p:spTree>
    <p:extLst>
      <p:ext uri="{BB962C8B-B14F-4D97-AF65-F5344CB8AC3E}">
        <p14:creationId xmlns:p14="http://schemas.microsoft.com/office/powerpoint/2010/main" val="4064425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21B769-C3E8-424E-9CDE-37237806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불량 유형별 순위 성능과 양성 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E6BB6-59FC-4BD8-B418-44AE4ADC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12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1C7CFD-4819-48A7-99CB-A9435A67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팀 add 고정 모델 재현; 5 seed · 같은 구간 test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A8988-7276-4365-A56E-9952DB7E9511}"/>
              </a:ext>
            </a:extLst>
          </p:cNvPr>
          <p:cNvGraphicFramePr/>
          <p:nvPr/>
        </p:nvGraphicFramePr>
        <p:xfrm>
          <a:off xmlns:a="http://schemas.openxmlformats.org/drawingml/2006/main" x="609600" y="1666875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52800"/>
                <a:gridCol w="2095500"/>
                <a:gridCol w="1714500"/>
                <a:gridCol w="1714500"/>
                <a:gridCol w="2095500"/>
              </a:tblGrid>
              <a:tr h="5080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유형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양성 / 1,387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AUC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불량률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Blow_Hole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47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0.8216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0.0886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3.39%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Bubble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28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0.7543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0.0458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2.02%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Etc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91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0.8670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0.2210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6.56%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Exfoliation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33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0.8183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0.0907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2.38%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Short_Shot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88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0.6322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0.1080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6.34%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93DB15-5432-4037-8B42-216BCF323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rPr>
              <a:t>Etc는 주요 4종 이외의 합집합 · 유형 중복을 허용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999824-DDF1-4A75-82AE-D76B4B92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A_FB: 품질 행 순번·지연 회신을 쓰는 별도 보조 모델</a:t>
            </a:r>
          </a:p>
          <a:p xmlns:a="http://schemas.openxmlformats.org/drawingml/2006/main">
            <a:pPr>
              <a:def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현재 판독기의 자동 유형 진단이나 미래 성능을 뜻하지 않음</a:t>
            </a:r>
          </a:p>
        </p:txBody>
      </p:sp>
    </p:spTree>
    <p:extLst>
      <p:ext uri="{BB962C8B-B14F-4D97-AF65-F5344CB8AC3E}">
        <p14:creationId xmlns:p14="http://schemas.microsoft.com/office/powerpoint/2010/main" val="176019187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B07E6C-C085-4380-B4F6-A2F27B6B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7개 모델군 × 네 데이터 조합 교차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50D6DF-F178-4756-A9EC-387DEDAC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13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56A21E-AC71-4C15-818E-84CE98EE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oct08_crossed_search · oct08_window_search · 보고서 2.5–2.7절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4A3E74-8D4C-4CD0-A285-25AB7E23BB71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3810000"/>
                <a:gridCol w="4019550"/>
              </a:tblGrid>
              <a:tr h="5334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데이터 조합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고정 로지스틱 test AP (포착)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validation 선택 후보 test AP (포착)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#42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0.3713 (114)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0.3188 (95)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#42 + #41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0.3657 (113)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0.3296 (102)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#42 + #40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0.3736 (114)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0.3176 (84)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#42 + #41 + #40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0.3670 (114)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0.3227 (84)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AF2105-3425-4EFE-9D3A-D428A631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rPr>
              <a:t>848후보 탐색: validation 선택 후보의 test AP가 모두 B0 0.3713 미만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5A3041-5D2D-417E-90F9-0E194259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시간 창 집계 LightGBM은 validation 기준 통과 후 test 역전(0.3234→0.3019) · 사후 최고 관측 MLP #42+#41 0.3953은 95% 범위가 0 포함</a:t>
            </a:r>
          </a:p>
          <a:p xmlns:a="http://schemas.openxmlformats.org/drawingml/2006/main">
            <a:pPr>
              <a:defRPr sz="17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세 연계 방식 모두 채택 기준 미달 → 설명 가능한 S_FB 로지스틱 판독 모델 유지</a:t>
            </a:r>
          </a:p>
        </p:txBody>
      </p:sp>
    </p:spTree>
    <p:extLst>
      <p:ext uri="{BB962C8B-B14F-4D97-AF65-F5344CB8AC3E}">
        <p14:creationId xmlns:p14="http://schemas.microsoft.com/office/powerpoint/2010/main" val="14016453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6014A7-03AA-4C48-8933-0EC9F3592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적용범위 밖의 입력은 자동으로 보류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B84C53-5C28-410A-99C4-DFF542EB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14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98047-1B72-45FF-80C6-B6BC0B46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joint_support.csv; pair_interactions.csv; reader_support_audit.csv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F9A74F-8089-45B1-B3F7-F1051BCA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rPr>
              <a:t>1,168 / 1,387건에 사람 검토 경고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23F2C3-BEE4-4F95-8AC0-6096F7AC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109728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환경값·누적 피드백 수의 학습범위 초과, 입력 부족, 공동지지 부족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7594A-6482-4104-97A2-03C3A170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109728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고정 변수쌍: High_Velocity × Casting_Pressure</a:t>
            </a:r>
          </a:p>
          <a:p xmlns:a="http://schemas.openxmlformats.org/drawingml/2006/main">
            <a:pPr>
              <a:defRPr sz="217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train 30행·test 20행 이상 cell만 분석</a:t>
            </a:r>
          </a:p>
          <a:p xmlns:a="http://schemas.openxmlformats.org/drawingml/2006/main">
            <a:pPr>
              <a:defRPr sz="217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S_FB log-odds 상호작용은 수치오차 수준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FDB6CC-2D60-4E77-AF8F-73A313B5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경고행을 성능 분모에서 빼지 않았습니다. 공정 설정값을 추천하지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50194554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4F3E43-E774-4767-A6DB-6556477E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자동 위험 탐지와 담당자 검토 연결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3133C-ADE2-4ACB-861C-1BEC22607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15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FADB23-4926-4BDB-A1B0-DC7518AA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castguard/submission_reader.py; demo.html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1FB6D8-8964-457E-9B31-1DBDCBAD2FAD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14800"/>
                <a:gridCol w="3143250"/>
                <a:gridCol w="3714750"/>
              </a:tblGrid>
              <a:tr h="6667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/ 판독 상태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자동 판단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현장 조치 기본설계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누락·현재/미래라벨·중복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거절 또는 미산출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정합성 확인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미학습 제품·지지 부족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적용범위 경고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검토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지원 입력 + 높은 점수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추가검사 검토 요청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기존 최종검사 유지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#41 상태 경보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품질·설비 공동 검토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생산중지·폐기는 사람 승인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83FFFE-D08D-438F-9249-493F7276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모델 점수와 조치 기준은 자동 생성 · 설비 제어 명령은 보내지 않음</a:t>
            </a:r>
          </a:p>
        </p:txBody>
      </p:sp>
    </p:spTree>
    <p:extLst>
      <p:ext uri="{BB962C8B-B14F-4D97-AF65-F5344CB8AC3E}">
        <p14:creationId xmlns:p14="http://schemas.microsoft.com/office/powerpoint/2010/main" val="154428330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81E8EC-ECCD-4EBF-AE5D-E9EF3B28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설비 도달의 이득과 품질 포착의 손실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F90AD5-023A-4204-9080-2CDC62C8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16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DA135B-3B43-4D3A-BC55-E4CD46D3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oct03_round7/group_metrics.csv; 기존 동결 causal queue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A77072-42DC-4CB3-BF92-34255B9C7DA5}"/>
              </a:ext>
            </a:extLst>
          </p:cNvPr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1097280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3829050"/>
                <a:gridCol w="3905250"/>
              </a:tblGrid>
              <a:tr h="6429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정책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관측 불량 포착 / 505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 에피소드 도달 / 15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FIFO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113 (22.376%)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별도 지표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 · 품질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105.4 (20.871%)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GQ · 품질+설비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102.2 (20.238%)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62FD24-CA9D-43F8-B82F-F81E7177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공통 기회677 · 전체3,395 · 품질 미관측516 · 보류409 · 종료잔량241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C22CE9-855F-4400-ABBF-64DA65E51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별도 역사적 비교입니다. 새 S_FB의 정책 성능으로 합치지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25408368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E5CE3-93EB-4E78-B926-9AACAA4A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적응형 설비 경보와 정상 경보 부담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C6DB62-8AD6-4BE2-9706-3A199057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17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46DB6-FF5F-4401-A81F-B47A91E1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팀 add Gate 재현; 5 seed · 지연 정상 회신 가정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D5C7A8-15ED-442B-BA2A-D3D49EEB17A5}"/>
              </a:ext>
            </a:extLst>
          </p:cNvPr>
          <p:cNvGraphicFramePr/>
          <p:nvPr/>
        </p:nvGraphicFramePr>
        <p:xfrm>
          <a:off xmlns:a="http://schemas.openxmlformats.org/drawingml/2006/main" x="609600" y="1647825"/>
          <a:ext xmlns:a="http://schemas.openxmlformats.org/drawingml/2006/main" cx="109728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3733800"/>
                <a:gridCol w="2095500"/>
                <a:gridCol w="2286000"/>
              </a:tblGrid>
              <a:tr h="52387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구간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탐지 / 관측 / 전체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 행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 FPR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미래 run 2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 / 6 / 7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397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4.79%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미래 run 3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 / 3 / 3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미래 run 4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/ 2 / 2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725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1.43%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미래 run 6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/ 4 / 4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635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1.89%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구간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 / 9 / 10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1387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2.29%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E24CF3-818F-4587-8125-6ADF5ED9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rPr>
              <a:t>같은 구간: 고정 2.68% → 적응형 2.29% · 탐지 8개 유지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35C9F4-0A82-43B9-89F4-17BB5069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원래 FPR 2% 목표에는 미달 · 미래 run 3은 0/3</a:t>
            </a:r>
          </a:p>
          <a:p xmlns:a="http://schemas.openxmlformats.org/drawingml/2006/main">
            <a:pPr>
              <a:defRPr sz="17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실제 생산중지 성과가 아니며, 기존 JH Gate와 평가 모집단이 다름</a:t>
            </a:r>
          </a:p>
        </p:txBody>
      </p:sp>
    </p:spTree>
    <p:extLst>
      <p:ext uri="{BB962C8B-B14F-4D97-AF65-F5344CB8AC3E}">
        <p14:creationId xmlns:p14="http://schemas.microsoft.com/office/powerpoint/2010/main" val="63449995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CD3107-D9B9-483F-9FC0-077C632F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비용 효과는 실제 단가에 달려 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C78CE-EFF7-4F17-A17F-43033A4D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18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BA924D-DC8A-4797-9F95-A42D17FE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cost_scenarios.csv; 임계값 기준 가상검사; 검사비=1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39B312-2E2B-4A2A-BF63-1E87EE76CEC3}"/>
              </a:ext>
            </a:extLst>
          </p:cNvPr>
          <p:cNvGraphicFramePr/>
          <p:nvPr/>
        </p:nvGraphicFramePr>
        <p:xfrm>
          <a:off xmlns:a="http://schemas.openxmlformats.org/drawingml/2006/main" x="609600" y="1781175"/>
          <a:ext xmlns:a="http://schemas.openxmlformats.org/drawingml/2006/main" cx="109728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43300"/>
                <a:gridCol w="2476500"/>
                <a:gridCol w="2476500"/>
                <a:gridCol w="2476500"/>
              </a:tblGrid>
              <a:tr h="5715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누락비 / 검사비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 손실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S_FB 손실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감소율</a:t>
                      </a:r>
                    </a:p>
                  </a:txBody>
                  <a:tcPr marL="95250" marR="95250" marT="95250" marB="95250">
                    <a:solidFill>
                      <a:srgbClr val="E7EF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313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378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-20.77%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1253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1146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8.54%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2428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2106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72B4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13.26%</a:t>
                      </a:r>
                    </a:p>
                  </a:txBody>
                  <a:tcPr marL="95250" marR="952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3B757-8E96-43E4-90A0-EC9D1875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rPr>
              <a:t>검사108건 증가 / 미포착43건 감소 → 손익분기 비율 2.51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4C3FCC-4650-47F7-B482-C80C4092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완전검사·일정 누락비 가정. 경고 처리비 미포함이며 실제 비용절감이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94822468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5C0F8A-1316-46DD-ACAD-ADE7CDE21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재현 가능한 제출 패키지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7A6F92-55AD-4AAB-8B2C-C8CF14D41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19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EB47B6-5209-42A9-9C65-EC307DA5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submission/CastGuard_source.zip; README; 검수 명세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9CD08-1FA0-48BA-A337-BD06DBEC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원본 3종 → 고정 분할 → train 학습 → validation 선택 → 재사용 test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E0115F-AAED-4675-A476-6215DEA2F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972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모델·입력 예제·환경 잠금·test 예측·선정 해시·결과표 포함</a:t>
            </a:r>
          </a:p>
          <a:p xmlns:a="http://schemas.openxmlformats.org/drawingml/2006/main">
            <a:pPr>
              <a:defRPr sz="225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한 명령 판독과 별도 경로의 전체 실험 재현</a:t>
            </a:r>
          </a:p>
          <a:p xmlns:a="http://schemas.openxmlformats.org/drawingml/2006/main">
            <a:pPr>
              <a:defRPr sz="225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PDF·편집 PPTX·설문 원본·ZIP을 최종 검수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817546-FE31-44A4-84D7-3B1F3A62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네 조합·팀 보조 모델의 재현 코드와 행별 예측을 함께 제공합니다.</a:t>
            </a:r>
          </a:p>
        </p:txBody>
      </p:sp>
    </p:spTree>
    <p:extLst>
      <p:ext uri="{BB962C8B-B14F-4D97-AF65-F5344CB8AC3E}">
        <p14:creationId xmlns:p14="http://schemas.microsoft.com/office/powerpoint/2010/main" val="185090147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46951E-E079-4573-B11F-F7003F1A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성과와 다음 현장 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B7B88A-1E89-4654-94E1-E4F5D396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20  /  CastGuard · 과제②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F0DB86-E04C-44E3-A085-F977A457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24600"/>
            <a:ext cx="567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보고서 제2–5장; reader_uncertainty.json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1CE5A-63B2-4027-8CEB-36BA0CE3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2864DC"/>
                </a:solidFill>
                <a:latin typeface="Malgun Gothic"/>
                <a:ea typeface="Malgun Gothic"/>
                <a:cs typeface="Malgun Gothic"/>
              </a:rPr>
              <a:t>추가 검사 약 20%로 불량 43.01% 포착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992A6-B7B1-43B0-9E4B-67928DC4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같은 구간 재사용 test · 117/272건 · 무작위 기대값의 2.15배</a:t>
            </a:r>
          </a:p>
          <a:p xmlns:a="http://schemas.openxmlformats.org/drawingml/2006/main">
            <a:pPr>
              <a:defRPr sz="232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B43"/>
                </a:solidFill>
                <a:latin typeface="Malgun Gothic"/>
                <a:ea typeface="Malgun Gothic"/>
                <a:cs typeface="Malgun Gothic"/>
              </a:rPr>
              <a:t>AUC 0.7378 / AP 0.3845 · 기존 판독 모델 유지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1F2346-F208-4A37-ACB8-A42A2795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남은 핵심: 미래 구간 성능 / #41 추가가치 / 수신시각 / 실제 비용</a:t>
            </a:r>
          </a:p>
          <a:p xmlns:a="http://schemas.openxmlformats.org/drawingml/2006/main">
            <a:pPr>
              <a:defRPr sz="21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3657B"/>
                </a:solidFill>
                <a:latin typeface="Malgun Gothic"/>
                <a:ea typeface="Malgun Gothic"/>
                <a:cs typeface="Malgun Gothic"/>
              </a:rPr>
              <a:t>다음 검증: 미노출 생산구간의 shadow pilot과 전체 분모 평가</a:t>
            </a:r>
          </a:p>
        </p:txBody>
      </p:sp>
    </p:spTree>
    <p:extLst>
      <p:ext uri="{BB962C8B-B14F-4D97-AF65-F5344CB8AC3E}">
        <p14:creationId xmlns:p14="http://schemas.microsoft.com/office/powerpoint/2010/main" val="2996803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2026-10-08T13:49:11.1600000Z</dcterms:created>
  <dcterms:modified xsi:type="dcterms:W3CDTF">2026-10-08T13:49:11.1600000Z</dcterms:modified>
</coreProperties>
</file>