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60c7b564e4086" /><Relationship Type="http://schemas.openxmlformats.org/officeDocument/2006/relationships/extended-properties" Target="/docProps/app.xml" Id="Rbc8d0bd223b54c5d" /><Relationship Type="http://schemas.openxmlformats.org/officeDocument/2006/relationships/officeDocument" Target="/ppt/presentation.xml" Id="R7305eaf911674f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c6cef4e0fd46c2"/>
  </p:sldMasterIdLst>
  <p:notesMasterIdLst>
    <p:notesMasterId xmlns:r="http://schemas.openxmlformats.org/officeDocument/2006/relationships" r:id="R51d509cff8c6430e"/>
  </p:notesMasterIdLst>
  <p:sldIdLst>
    <p:sldId xmlns:r="http://schemas.openxmlformats.org/officeDocument/2006/relationships" id="256" r:id="Rec3f27798a5d49d2"/>
    <p:sldId xmlns:r="http://schemas.openxmlformats.org/officeDocument/2006/relationships" id="257" r:id="Rbd62b655eeac4311"/>
    <p:sldId xmlns:r="http://schemas.openxmlformats.org/officeDocument/2006/relationships" id="258" r:id="Ra1aea45e5d9a4949"/>
    <p:sldId xmlns:r="http://schemas.openxmlformats.org/officeDocument/2006/relationships" id="259" r:id="R43e8c7b20a4d4b6b"/>
    <p:sldId xmlns:r="http://schemas.openxmlformats.org/officeDocument/2006/relationships" id="260" r:id="R3f60262e69564cd0"/>
    <p:sldId xmlns:r="http://schemas.openxmlformats.org/officeDocument/2006/relationships" id="261" r:id="Rb77da66db65e444a"/>
    <p:sldId xmlns:r="http://schemas.openxmlformats.org/officeDocument/2006/relationships" id="262" r:id="R735f7a2edd51437d"/>
    <p:sldId xmlns:r="http://schemas.openxmlformats.org/officeDocument/2006/relationships" id="263" r:id="Re4aef8bd6aa941c2"/>
    <p:sldId xmlns:r="http://schemas.openxmlformats.org/officeDocument/2006/relationships" id="264" r:id="R89384a4a15904b68"/>
    <p:sldId xmlns:r="http://schemas.openxmlformats.org/officeDocument/2006/relationships" id="265" r:id="Rb91507a9c8b34acd"/>
    <p:sldId xmlns:r="http://schemas.openxmlformats.org/officeDocument/2006/relationships" id="266" r:id="R524ea3e9d42f4ad9"/>
    <p:sldId xmlns:r="http://schemas.openxmlformats.org/officeDocument/2006/relationships" id="267" r:id="R33653394d30b495e"/>
    <p:sldId xmlns:r="http://schemas.openxmlformats.org/officeDocument/2006/relationships" id="268" r:id="Rb3cb53fad4604e47"/>
    <p:sldId xmlns:r="http://schemas.openxmlformats.org/officeDocument/2006/relationships" id="269" r:id="Rc5744ea3bf434d05"/>
    <p:sldId xmlns:r="http://schemas.openxmlformats.org/officeDocument/2006/relationships" id="270" r:id="R5b90c3e8c1b74d54"/>
    <p:sldId xmlns:r="http://schemas.openxmlformats.org/officeDocument/2006/relationships" id="271" r:id="R991e4fd3978e44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3e6d26051460e" /><Relationship Type="http://schemas.openxmlformats.org/officeDocument/2006/relationships/slideMaster" Target="/ppt/slideMasters/slideMaster1.xml" Id="R3fc6cef4e0fd46c2" /><Relationship Type="http://schemas.openxmlformats.org/officeDocument/2006/relationships/notesMaster" Target="/ppt/notesMasters/notesMaster1.xml" Id="R51d509cff8c6430e" /><Relationship Type="http://schemas.openxmlformats.org/officeDocument/2006/relationships/presProps" Target="/ppt/presProps.xml" Id="Ref07e50fc698469a" /><Relationship Type="http://schemas.openxmlformats.org/officeDocument/2006/relationships/tableStyles" Target="/ppt/tableStyles.xml" Id="R10ed24ebdcf748d9" /><Relationship Type="http://schemas.openxmlformats.org/officeDocument/2006/relationships/slide" Target="/ppt/slides/slide1.xml" Id="Rec3f27798a5d49d2" /><Relationship Type="http://schemas.openxmlformats.org/officeDocument/2006/relationships/slide" Target="/ppt/slides/slide2.xml" Id="Rbd62b655eeac4311" /><Relationship Type="http://schemas.openxmlformats.org/officeDocument/2006/relationships/slide" Target="/ppt/slides/slide3.xml" Id="Ra1aea45e5d9a4949" /><Relationship Type="http://schemas.openxmlformats.org/officeDocument/2006/relationships/slide" Target="/ppt/slides/slide4.xml" Id="R43e8c7b20a4d4b6b" /><Relationship Type="http://schemas.openxmlformats.org/officeDocument/2006/relationships/slide" Target="/ppt/slides/slide5.xml" Id="R3f60262e69564cd0" /><Relationship Type="http://schemas.openxmlformats.org/officeDocument/2006/relationships/slide" Target="/ppt/slides/slide6.xml" Id="Rb77da66db65e444a" /><Relationship Type="http://schemas.openxmlformats.org/officeDocument/2006/relationships/slide" Target="/ppt/slides/slide7.xml" Id="R735f7a2edd51437d" /><Relationship Type="http://schemas.openxmlformats.org/officeDocument/2006/relationships/slide" Target="/ppt/slides/slide8.xml" Id="Re4aef8bd6aa941c2" /><Relationship Type="http://schemas.openxmlformats.org/officeDocument/2006/relationships/slide" Target="/ppt/slides/slide9.xml" Id="R89384a4a15904b68" /><Relationship Type="http://schemas.openxmlformats.org/officeDocument/2006/relationships/slide" Target="/ppt/slides/slide10.xml" Id="Rb91507a9c8b34acd" /><Relationship Type="http://schemas.openxmlformats.org/officeDocument/2006/relationships/slide" Target="/ppt/slides/slide11.xml" Id="R524ea3e9d42f4ad9" /><Relationship Type="http://schemas.openxmlformats.org/officeDocument/2006/relationships/slide" Target="/ppt/slides/slide12.xml" Id="R33653394d30b495e" /><Relationship Type="http://schemas.openxmlformats.org/officeDocument/2006/relationships/slide" Target="/ppt/slides/slide13.xml" Id="Rb3cb53fad4604e47" /><Relationship Type="http://schemas.openxmlformats.org/officeDocument/2006/relationships/slide" Target="/ppt/slides/slide14.xml" Id="Rc5744ea3bf434d05" /><Relationship Type="http://schemas.openxmlformats.org/officeDocument/2006/relationships/slide" Target="/ppt/slides/slide15.xml" Id="R5b90c3e8c1b74d54" /><Relationship Type="http://schemas.openxmlformats.org/officeDocument/2006/relationships/slide" Target="/ppt/slides/slide16.xml" Id="R991e4fd3978e44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82be12cd214b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87e5d8d63b4fa8" /><Relationship Type="http://schemas.openxmlformats.org/officeDocument/2006/relationships/notesMaster" Target="/ppt/notesMasters/notesMaster1.xml" Id="Rde1bb48620b0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4a4912061b447b" /><Relationship Type="http://schemas.openxmlformats.org/officeDocument/2006/relationships/notesMaster" Target="/ppt/notesMasters/notesMaster1.xml" Id="R7360f101321a4e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b65a048914dac" /><Relationship Type="http://schemas.openxmlformats.org/officeDocument/2006/relationships/notesMaster" Target="/ppt/notesMasters/notesMaster1.xml" Id="R6121572980a64c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cb36d3996f4c36" /><Relationship Type="http://schemas.openxmlformats.org/officeDocument/2006/relationships/notesMaster" Target="/ppt/notesMasters/notesMaster1.xml" Id="R2f8c60d8ecdd47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d4589ee86847fc" /><Relationship Type="http://schemas.openxmlformats.org/officeDocument/2006/relationships/notesMaster" Target="/ppt/notesMasters/notesMaster1.xml" Id="R8a6f1c114cd844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5585dde327441b" /><Relationship Type="http://schemas.openxmlformats.org/officeDocument/2006/relationships/notesMaster" Target="/ppt/notesMasters/notesMaster1.xml" Id="R8064a1c0f2074c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b626dd6d624e7c" /><Relationship Type="http://schemas.openxmlformats.org/officeDocument/2006/relationships/notesMaster" Target="/ppt/notesMasters/notesMaster1.xml" Id="Rd11a6035a2344e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5e293733f84205" /><Relationship Type="http://schemas.openxmlformats.org/officeDocument/2006/relationships/notesMaster" Target="/ppt/notesMasters/notesMaster1.xml" Id="Re24415bd17154c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8f86cd67944b23" /><Relationship Type="http://schemas.openxmlformats.org/officeDocument/2006/relationships/notesMaster" Target="/ppt/notesMasters/notesMaster1.xml" Id="R73d731bf6df249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6b3c62f559403b" /><Relationship Type="http://schemas.openxmlformats.org/officeDocument/2006/relationships/notesMaster" Target="/ppt/notesMasters/notesMaster1.xml" Id="R944543bbe80846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691b709aba4de6" /><Relationship Type="http://schemas.openxmlformats.org/officeDocument/2006/relationships/notesMaster" Target="/ppt/notesMasters/notesMaster1.xml" Id="Rda6aaea76b834a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8476fa949e42db" /><Relationship Type="http://schemas.openxmlformats.org/officeDocument/2006/relationships/notesMaster" Target="/ppt/notesMasters/notesMaster1.xml" Id="R723ae2f4436047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6adb2b6a7840f9" /><Relationship Type="http://schemas.openxmlformats.org/officeDocument/2006/relationships/notesMaster" Target="/ppt/notesMasters/notesMaster1.xml" Id="R3c35c0407a5344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a65902a69a46a6" /><Relationship Type="http://schemas.openxmlformats.org/officeDocument/2006/relationships/notesMaster" Target="/ppt/notesMasters/notesMaster1.xml" Id="R18ff1c069f2544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12286b0c124e10" /><Relationship Type="http://schemas.openxmlformats.org/officeDocument/2006/relationships/notesMaster" Target="/ppt/notesMasters/notesMaster1.xml" Id="Ra37c56fbf9b74c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3ba28d4953403c" /><Relationship Type="http://schemas.openxmlformats.org/officeDocument/2006/relationships/notesMaster" Target="/ppt/notesMasters/notesMaster1.xml" Id="R309f237fa8474b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2026 제6회 K-인공지능 제조데이터 분석 경진대회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보고서 제1장; #42 품질 / #41 설비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data/processed/manifest.json; docs/PREPROCESSING.md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OCT06_RESEARCH_PROTOCOL.md; selection.json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summary.csv; n=1,387 / 양성272; 3seed 평균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comparisons.csv; adoption_decisions.json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summary.csv; S_FB forward reused test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feedback_sensitivity.csv; frozen S_FB; reused test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demo_output.json; q42_r0_s1000; logistic log-odds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diagnostic_examples.csv; 사후 진단용 첫 row_id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joint_support.csv; pair_interactions.csv; reader_support_audit.csv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castguard/submission_reader.py; demo.html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oct03_round7/group_metrics.csv; 기존 동결 causal queue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cost_scenarios.csv; 임계값 기준 가상검사; 검사비=1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submission/CastGuard_source.zip; README; 검수 명세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보고서 제2–5장; reader_uncertainty.json</a:t>
            </a:r>
          </a:p>
          <a:p xmlns:a="http://schemas.openxmlformats.org/drawingml/2006/main">
            <a:r>
              <a:t>재사용 데이터의 탐색 평가. 현장 효과·인과·독립 미래 성능으로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60122019d48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36530944b349b8" /><Relationship Type="http://schemas.openxmlformats.org/officeDocument/2006/relationships/slideLayout" Target="/ppt/slideLayouts/slideLayout1.xml" Id="R155e1432b92249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5e1432b92249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f9b78afb84d65" /><Relationship Type="http://schemas.openxmlformats.org/officeDocument/2006/relationships/notesSlide" Target="/ppt/notesSlides/notesSlide1.xml" Id="Raf89bbdbe6bc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d5f0dbf59438d" /><Relationship Type="http://schemas.openxmlformats.org/officeDocument/2006/relationships/notesSlide" Target="/ppt/notesSlides/notesSlide2.xml" Id="R18890093e67a4b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8cbbdf68046fc" /><Relationship Type="http://schemas.openxmlformats.org/officeDocument/2006/relationships/notesSlide" Target="/ppt/notesSlides/notesSlide3.xml" Id="Rfc873dc46109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c66e7e45e47d6" /><Relationship Type="http://schemas.openxmlformats.org/officeDocument/2006/relationships/notesSlide" Target="/ppt/notesSlides/notesSlide4.xml" Id="R143d1f7fa76145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7e3c24ecb44c5" /><Relationship Type="http://schemas.openxmlformats.org/officeDocument/2006/relationships/chart" Target="/ppt/slides/charts/chart1.xml" Id="Rda06e5334b8c4ab1" /><Relationship Type="http://schemas.openxmlformats.org/officeDocument/2006/relationships/notesSlide" Target="/ppt/notesSlides/notesSlide5.xml" Id="Ra23b0514676e44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4b80a37fc465d" /><Relationship Type="http://schemas.openxmlformats.org/officeDocument/2006/relationships/notesSlide" Target="/ppt/notesSlides/notesSlide6.xml" Id="R2b31b9adebef4c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a7e8f57fe406b" /><Relationship Type="http://schemas.openxmlformats.org/officeDocument/2006/relationships/chart" Target="/ppt/slides/charts/chart2.xml" Id="R5fe65dbcf75c44b7" /><Relationship Type="http://schemas.openxmlformats.org/officeDocument/2006/relationships/notesSlide" Target="/ppt/notesSlides/notesSlide7.xml" Id="R169b64245ee247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2a4473dda498b" /><Relationship Type="http://schemas.openxmlformats.org/officeDocument/2006/relationships/notesSlide" Target="/ppt/notesSlides/notesSlide8.xml" Id="R463a22f8611248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f9a5c3784786" /><Relationship Type="http://schemas.openxmlformats.org/officeDocument/2006/relationships/notesSlide" Target="/ppt/notesSlides/notesSlide9.xml" Id="R8d92d96a764948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5e12f0ba343da" /><Relationship Type="http://schemas.openxmlformats.org/officeDocument/2006/relationships/notesSlide" Target="/ppt/notesSlides/notesSlide10.xml" Id="Rab9b1b7bfee149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322df97424473" /><Relationship Type="http://schemas.openxmlformats.org/officeDocument/2006/relationships/notesSlide" Target="/ppt/notesSlides/notesSlide11.xml" Id="Ra0ed20e213114e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dfa07efd64617" /><Relationship Type="http://schemas.openxmlformats.org/officeDocument/2006/relationships/notesSlide" Target="/ppt/notesSlides/notesSlide12.xml" Id="Ra7d19c78603d45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afd25c02145f3" /><Relationship Type="http://schemas.openxmlformats.org/officeDocument/2006/relationships/notesSlide" Target="/ppt/notesSlides/notesSlide13.xml" Id="R196b132cf41c42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934f5f6944b2d" /><Relationship Type="http://schemas.openxmlformats.org/officeDocument/2006/relationships/notesSlide" Target="/ppt/notesSlides/notesSlide14.xml" Id="Rebb41b8f1da342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2b4c1067f412a" /><Relationship Type="http://schemas.openxmlformats.org/officeDocument/2006/relationships/notesSlide" Target="/ppt/notesSlides/notesSlide15.xml" Id="R1cd95d181d2f4a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d58bdcfe44e20" /><Relationship Type="http://schemas.openxmlformats.org/officeDocument/2006/relationships/notesSlide" Target="/ppt/notesSlides/notesSlide16.xml" Id="R084c8fe0d7d946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재사용 test AP</c:v>
          </c:tx>
          <c:spPr>
            <a:solidFill xmlns:a="http://schemas.openxmlformats.org/drawingml/2006/main">
              <a:srgbClr val="2864DC"/>
            </a:solidFill>
          </c:spPr>
          <c:cat>
            <c:strRef>
              <c:f>'Chart Data'!$A$2:$A$8</c:f>
              <c:strCache>
                <c:ptCount val="7"/>
                <c:pt idx="0">
                  <c:v>P</c:v>
                </c:pt>
                <c:pt idx="1">
                  <c:v>H</c:v>
                </c:pt>
                <c:pt idx="2">
                  <c:v>S</c:v>
                </c:pt>
                <c:pt idx="3">
                  <c:v>SH</c:v>
                </c:pt>
                <c:pt idx="4">
                  <c:v>FB</c:v>
                </c:pt>
                <c:pt idx="5">
                  <c:v>S_FB</c:v>
                </c:pt>
                <c:pt idx="6">
                  <c:v>SH_FB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0.341676</c:v>
                </c:pt>
                <c:pt idx="1">
                  <c:v>0.337545</c:v>
                </c:pt>
                <c:pt idx="2">
                  <c:v>0.371336</c:v>
                </c:pt>
                <c:pt idx="3">
                  <c:v>0.324836</c:v>
                </c:pt>
                <c:pt idx="4">
                  <c:v>0.35506</c:v>
                </c:pt>
                <c:pt idx="5">
                  <c:v>0.384501</c:v>
                </c:pt>
                <c:pt idx="6">
                  <c:v>0.343036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B43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AUC</c:v>
          </c:tx>
          <c:spPr>
            <a:solidFill xmlns:a="http://schemas.openxmlformats.org/drawingml/2006/main">
              <a:srgbClr val="B57537"/>
            </a:solidFill>
          </c:spPr>
          <c:cat>
            <c:strRef>
              <c:f>'Chart Data'!$A$2:$A$5</c:f>
              <c:strCache>
                <c:ptCount val="4"/>
                <c:pt idx="0">
                  <c:v>run 2</c:v>
                </c:pt>
                <c:pt idx="1">
                  <c:v>run 3</c:v>
                </c:pt>
                <c:pt idx="2">
                  <c:v>run 4</c:v>
                </c:pt>
                <c:pt idx="3">
                  <c:v>run 6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0.357143</c:v>
                </c:pt>
                <c:pt idx="1">
                  <c:v>0.432247</c:v>
                </c:pt>
                <c:pt idx="2">
                  <c:v>0.565503</c:v>
                </c:pt>
                <c:pt idx="3">
                  <c:v>0.513085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B43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599F6-940B-4ECE-A5E7-84E710C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CastGuard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76972-4673-419D-ABA5-F05CFDF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C10FC-17CA-4C1E-9D06-8F494CB5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2026 제6회 K-인공지능 제조데이터 분석 경진대회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3EC87-3679-4EC1-9F1A-6D09C30E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근거를 설명하는</a:t>
            </a:r>
          </a:p>
          <a:p xmlns:a="http://schemas.openxmlformats.org/drawingml/2006/main">
            <a:pPr>
              <a:defRPr sz="43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품질검사 의사결정 지원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E0AE-9649-4E81-ADB9-CA510DA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RE제조부터시작하는이세계생활</a:t>
            </a:r>
          </a:p>
          <a:p xmlns:a="http://schemas.openxmlformats.org/drawingml/2006/main">
            <a:pPr>
              <a:defRPr sz="20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팀장 정가현 · 팀원 신종훈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61107-19BD-4AFE-829A-7F1897F0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64D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864DC"/>
                </a:solidFill>
                <a:latin typeface="Malgun Gothic"/>
                <a:ea typeface="Malgun Gothic"/>
                <a:cs typeface="Malgun Gothic"/>
              </a:rPr>
              <a:t>공정 완료 후 최종검사 전 · 오프라인 연구와 현장 적용 기본설계</a:t>
            </a:r>
          </a:p>
        </p:txBody>
      </p:sp>
    </p:spTree>
    <p:extLst>
      <p:ext uri="{BB962C8B-B14F-4D97-AF65-F5344CB8AC3E}">
        <p14:creationId xmlns:p14="http://schemas.microsoft.com/office/powerpoint/2010/main" val="1258616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807E4-17C3-4DF5-B404-BCB4F3F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추가검사 대상을 고르는 품질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9EFD2-C46F-4D21-8EA1-252B02C9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2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2E9C4-27B0-4B68-B3C0-BFE85409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보고서 제1장; #42 품질 / #41 설비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5DE86-3A50-41B3-A792-DB0EE938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대상: 익명 다이캐스팅 기업 시나리오의 제품군 1·2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8D7EF-7056-4534-AB57-8757CA5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한 Shot의 13종·26개 품질 항목 중 하나라도 불량이면 양성</a:t>
            </a:r>
          </a:p>
          <a:p xmlns:a="http://schemas.openxmlformats.org/drawingml/2006/main">
            <a:pPr>
              <a:def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기존 최종검사는 유지하고 추가검사 용량 20%를 가정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61046-6DCA-4503-BA72-73906BD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rPr>
              <a:t>공정 완료 관측 → 위험 점수 → 추가검사 검토 → 최종검사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7625D-B500-4010-B126-6653B08E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실제 기업 실증·검사비·수신시각은 확보되지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691512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16B8F-54AB-4886-A6DA-4F9C09C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품질과 설비를 역할에 맞게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879F8-0A84-480A-9FA0-2651C373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3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36BF1-C55E-4334-B267-7DF33B0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data/processed/manifest.json; docs/PREPROCESSING.md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952750"/>
                <a:gridCol w="5638800"/>
              </a:tblGrid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원시데이터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연계 근거와 한계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#42 · 4,617 Shot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데이터 / 품질 정답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공정·센서·제품, 1,073 불량 Shot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#41 · 5,161 event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/ 과거 이력·상태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(run, Shot)와 공정14 대조; 실제시각 미확인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#40 · 73,612행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온도 제거실험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공정과 무리한 행 조인 없음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15E96-485E-4C1D-8948-86611B49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품질 없는 행을 정상으로 채우지 않고, 단위·주기 미확인을 명시합니다.</a:t>
            </a:r>
          </a:p>
        </p:txBody>
      </p:sp>
    </p:spTree>
    <p:extLst>
      <p:ext uri="{BB962C8B-B14F-4D97-AF65-F5344CB8AC3E}">
        <p14:creationId xmlns:p14="http://schemas.microsoft.com/office/powerpoint/2010/main" val="1907093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CCD5-AEDD-4A54-BEAE-30DC2FB6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validation에서 선택하고 결과를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E3DB9-F30A-490F-9124-1DDE25B5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4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4A9C9-9D1F-4EA9-832B-62DD78B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OCT06_RESEARCH_PROTOCOL.md; selection.json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D96E3-56FD-4A4E-9BAB-514E8FBD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rPr>
              <a:t>7개 입력 구성 × 5개 모델 × 3 seed × 5 고정 분할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고정한 기준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구간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train 2,579 / validation 647 / test 1,387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미래 구간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forward run 2·3·4·6, 각 fold에서만 후보 선택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Logistic · RF · LightGBM · Ordered CatBoost · HGB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시점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검사결과가 20개 공정 event 후 도착한다고 가정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5E3BC-11E8-4C11-BC2D-25BF9E32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525회는 탐색량입니다. 기존에 노출된 test를 독립 검증으로 부르지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46924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23412-477B-40DF-9FB1-4E317674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같은 구간 AP는 0.3845까지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7A8F6-0354-4C16-969D-545831C2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5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60AEA-7236-4E26-8A61-A6EAFAE4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summary.csv; n=1,387 / 양성272; 3seed 평균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06e5334b8c4ab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D87B2-0C71-4C02-A440-83F8DE3E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S: 공정·센서 0.3713 → S_FB: 과거 검사결과 추가 0.3845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B4FFC-470B-4307-924C-28BB970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불량률의 2배 목표 0.3922에는 미달 · AUC 0.7378 · 20% 포착 117/272</a:t>
            </a:r>
          </a:p>
        </p:txBody>
      </p:sp>
    </p:spTree>
    <p:extLst>
      <p:ext uri="{BB962C8B-B14F-4D97-AF65-F5344CB8AC3E}">
        <p14:creationId xmlns:p14="http://schemas.microsoft.com/office/powerpoint/2010/main" val="2061585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9D00F-971D-4FFE-9CD0-71517B1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검사 피드백과 설비 이력의 효과를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D9BEB-1405-4FCE-B1CC-DB92972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6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64AD3-E463-41E3-BA43-69D53C9A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comparisons.csv; adoption_decisions.json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62550"/>
                <a:gridCol w="2905125"/>
                <a:gridCol w="2905125"/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정보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validation AP 차이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재사용 test AP 차이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#41 이력: H − P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+0.0133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−0.0041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#41 이력: SH − S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−0.0150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−0.0465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검사: S_FB − S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+0.0918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+0.0132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#41 이력: SH_FB − S_FB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−0.0127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−0.0415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FD972-52F3-469A-BE8F-F5ACF7C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피드백은 #42 과거 정답입니다. #41 융합 성공으로 계산하지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31956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B7517-377D-4AF0-AC10-5D197680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새로운 미래 구간에서는 성능이 약하다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C4477-13FC-48ED-97A5-603D0080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7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A89DD-07A9-4A39-BEB7-99A28AF8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summary.csv; S_FB forward reused test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e65dbcf75c44b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DBAE9-83B0-4D19-A624-BAE9E78D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4개 forward validation의 일관성 기준 미통과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721A9-B43B-4742-A76E-D7CC2FE9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제품·시간·run 효과가 혼재합니다. 미래 현장 적용 성공은 미입증입니다.</a:t>
            </a:r>
          </a:p>
        </p:txBody>
      </p:sp>
    </p:spTree>
    <p:extLst>
      <p:ext uri="{BB962C8B-B14F-4D97-AF65-F5344CB8AC3E}">
        <p14:creationId xmlns:p14="http://schemas.microsoft.com/office/powerpoint/2010/main" val="549354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41465-1FE9-415F-A4F1-F3C7B9B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검사결과가 늦으면 이점이 줄어든다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1842C-DD77-42B2-8224-12457D64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8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851A5-B6CA-49D6-9013-F13252B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feedback_sensitivity.csv; frozen S_FB; reused test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19800"/>
                <a:gridCol w="2476500"/>
                <a:gridCol w="2476500"/>
              </a:tblGrid>
              <a:tr h="5635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회신 조건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20% 포착률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event 지연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0.3934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43.75%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 event 지연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0.3837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40.81%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 event 지연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0.3504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36.76%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관측률20%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0.3512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43.01%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구간 정답 회신 없음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0.3645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37.87%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083FD-6999-4C0F-B5BC-512AECDE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기본 20 event: AP 0.3845 / 포착 43.01% · 결과에 맞춰 지연 가정을 바꾸지 않음</a:t>
            </a:r>
          </a:p>
        </p:txBody>
      </p:sp>
    </p:spTree>
    <p:extLst>
      <p:ext uri="{BB962C8B-B14F-4D97-AF65-F5344CB8AC3E}">
        <p14:creationId xmlns:p14="http://schemas.microsoft.com/office/powerpoint/2010/main" val="451497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9E82F-BD66-4CBA-981B-FCA0A213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한 Shot의 점수를 정확히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C351C-3B49-4C8E-AE28-28D0D2C6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9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E6E97-570A-4A9C-94B6-BBE08137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demo_output.json; q42_r0_s1000; logistic log-odds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53050"/>
                <a:gridCol w="2476500"/>
                <a:gridCol w="3143250"/>
              </a:tblGrid>
              <a:tr h="5159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변수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원자료 값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기여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Factory_Humidity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46.4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+0.8413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Factory_Temp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36.5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-0.7459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Clamping_Force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257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-0.7323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Spray_1_Time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-0.7284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Spray_2_Time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+0.6835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C0E2A-4E23-4D2C-83D8-ED06BC6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rPr>
              <a:t>위험 점수 0.2793 / 기준 0.3134 · 절편 + 기여 합으로 실제 점수 재구성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2882A-4F29-4DEA-9470-EE7BFC3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기여는 예측의 설명입니다. 물리적 원인이나 설정 변경 효과는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02918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AD63B-4714-4A72-B371-3976D67E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맞힌 사례와 실제 오류를 함께 제시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D1337-3B67-48EE-9DD9-250F00E1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10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6310E-BA5B-4894-8733-7F21AD0A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diagnostic_examples.csv; 사후 진단용 첫 row_id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067300"/>
                <a:gridCol w="2095500"/>
                <a:gridCol w="2095500"/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Shot 식별자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점수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정답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q42_r0_s1000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0.2793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FN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q42_r0_s1001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0.2665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q42_r0_s1017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0.3467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q42_r0_s1018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0.3270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BC07E-67D7-4CF7-B135-73AEC792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고정 기준: TP 80 · FP 106 · FN 192 · TN 1,009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23267-D47E-4CFD-92C3-BD4200E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정상 FPR 9.51% · 사후 top-k 20% 검사와 다른 평가입니다.</a:t>
            </a:r>
          </a:p>
        </p:txBody>
      </p:sp>
    </p:spTree>
    <p:extLst>
      <p:ext uri="{BB962C8B-B14F-4D97-AF65-F5344CB8AC3E}">
        <p14:creationId xmlns:p14="http://schemas.microsoft.com/office/powerpoint/2010/main" val="694037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E0D64-710F-4AF8-8827-B4EF628C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적용범위 밖의 입력은 자동으로 보류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8AFDB-DAA4-4360-9C63-5E3452CF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11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2F2D7-A451-485A-A1A9-A8F2B374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joint_support.csv; pair_interactions.csv; reader_support_audit.csv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66201-BCE8-4D3D-B46D-4BDE2626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rPr>
              <a:t>1,168 / 1,387건에 사람 검토 경고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44DC8-34D2-458A-918E-8A4475D5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환경값·누적 피드백 수의 학습범위 초과, 입력 부족, 공동지지 부족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82A57-9C20-4EC7-A8F6-F3AE79A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고정 변수쌍: High_Velocity × Casting_Pressure</a:t>
            </a:r>
          </a:p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train 30행·test 20행 이상 cell만 분석</a:t>
            </a:r>
          </a:p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S_FB log-odds 상호작용은 수치오차 수준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C2BD5-1419-4CE3-B3D1-470569D7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경고행을 성능 분모에서 빼지 않았습니다. 공정 설정값을 추천하지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422248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3D634-0DD5-4AB3-881E-FDC381F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자동 위험 탐지와 담당자 검토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AD664-4E59-4549-A452-0C42097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12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12121-54D2-4D0D-8600-2DE7251F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castguard/submission_reader.py; demo.html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3143250"/>
                <a:gridCol w="371475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/ 판독 상태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판단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조치 기본설계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누락·현재/미래라벨·중복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 또는 미산출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정합성 확인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미학습 제품·지지 부족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적용범위 경고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검토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입력 + 높은 점수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추가검사 검토 요청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최종검사 유지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#41 상태 경보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품질·설비 공동 검토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생산중지·폐기는 사람 승인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FA903-9468-4A85-BAD8-C1FAC75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모델 점수와 조치 기준은 자동 생성 · 설비 제어 명령은 보내지 않음</a:t>
            </a:r>
          </a:p>
        </p:txBody>
      </p:sp>
    </p:spTree>
    <p:extLst>
      <p:ext uri="{BB962C8B-B14F-4D97-AF65-F5344CB8AC3E}">
        <p14:creationId xmlns:p14="http://schemas.microsoft.com/office/powerpoint/2010/main" val="839611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5B9D5-8D2C-4903-B3EB-0BA1BC0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설비 도달의 이득과 품질 포착의 손실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9CCD9-3D3E-40DF-8528-60305296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13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10A2F-A98A-45E1-B181-695D87E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oct03_round7/group_metrics.csv; 기존 동결 causal queue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29050"/>
                <a:gridCol w="3905250"/>
              </a:tblGrid>
              <a:tr h="6429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불량 포착 / 505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에피소드 도달 / 15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FIFO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 (22.376%)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지표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 · 품질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105.4 (20.871%)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GQ · 품질+설비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102.2 (20.238%)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5F94D-FFE8-4B7A-A47E-E2410E97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공통 기회677 · 전체3,395 · 품질 미관측516 · 보류409 · 종료잔량241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ABEE2-55A5-4CDC-9237-C63B7D8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별도 역사적 비교입니다. 새 S_FB의 정책 성능으로 합치지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98274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ED722-8FFA-489A-8FAF-DDA87191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비용 효과는 실제 단가에 달려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6F993-2642-4EC6-B011-D492C06F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14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E0BC7-5A80-4875-88F7-2F512AC3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cost_scenarios.csv; 임계값 기준 가상검사; 검사비=1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43300"/>
                <a:gridCol w="2476500"/>
                <a:gridCol w="2476500"/>
                <a:gridCol w="247650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누락비 / 검사비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 손실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S_FB 손실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감소율</a:t>
                      </a:r>
                    </a:p>
                  </a:txBody>
                  <a:tcPr marL="95250" marR="95250" marT="95250" marB="95250">
                    <a:solidFill>
                      <a:srgbClr val="E7EF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313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378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-20.77%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1253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1146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8.54%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2428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2106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13.26%</a:t>
                      </a:r>
                    </a:p>
                  </a:txBody>
                  <a:tcPr marL="95250" marR="952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FC08F-556E-4CBB-B8C8-AC491B7F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rPr>
              <a:t>검사108건 증가 / 미포착43건 감소 → 손익분기 비율 2.51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C25E2-5FEF-4208-AD56-0CC76BBE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완전검사·일정 누락비 가정. 경고 처리비 미포함이며 실제 비용절감이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3014508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E6105-4C3A-4559-A42B-DEE6016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재현 가능한 제출 패키지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B33C7-91E6-42A3-830D-C94100E9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15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ADA55-E276-4094-8A78-CBB35A01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submission/CastGuard_source.zip; README; 검수 명세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9BA8A-52BE-401C-B26C-53A5E10C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원본3종 → 고정 분할 → train 학습 → validation 선택 → 재사용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05AFE-A8C0-496F-BFFF-38643359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모델·입력 예제·환경 잠금·test 예측·선정 해시·결과표 포함</a:t>
            </a:r>
          </a:p>
          <a:p xmlns:a="http://schemas.openxmlformats.org/drawingml/2006/main">
            <a:pPr>
              <a:def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한 명령 판독과 별도 경로의 전체 실험 재현</a:t>
            </a:r>
          </a:p>
          <a:p xmlns:a="http://schemas.openxmlformats.org/drawingml/2006/main">
            <a:pPr>
              <a:def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PDF·편집 PPTX·설문 원본·ZIP을 최종 검수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C9825-F6AA-40C7-B05E-8574B17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기존 자료와 사용자 변경을 보존하고, 실제 접수와 파일 완성을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7998102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CDAED-B832-40D2-B3DF-255BD5DF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성과와 다음 현장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4CDE7-E35A-40F0-96E7-6531BB78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16  /  CastGuard · 과제②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3A961-3335-4019-BD84-EB123AC8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보고서 제2–5장; reader_uncertainty.json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AB79E-1C5F-462C-984E-91418EB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64DC"/>
                </a:solidFill>
                <a:latin typeface="Malgun Gothic"/>
                <a:ea typeface="Malgun Gothic"/>
                <a:cs typeface="Malgun Gothic"/>
              </a:rPr>
              <a:t>같은 구간: AUC 0.7378 · AP 0.3845 · 20% 포착 43.01%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442C4-30BB-4DD0-875B-BF96484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과거 검사결과의 조건부 추가가치를 측정하고</a:t>
            </a:r>
          </a:p>
          <a:p xmlns:a="http://schemas.openxmlformats.org/drawingml/2006/main">
            <a:pPr>
              <a:defRPr sz="23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입력 위험·설명·검사 판단을 실제 도구로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51A01-D47E-4DA4-A6DB-18DDC7E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남은 핵심: 미래 구간 성능 / #41 추가가치 / 수신시각 / 실제 비용</a:t>
            </a:r>
          </a:p>
          <a:p xmlns:a="http://schemas.openxmlformats.org/drawingml/2006/main">
            <a:pPr>
              <a:defRPr sz="21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다음 검증: 미노출 생산구간의 shadow pilot과 전체 분모 평가</a:t>
            </a:r>
          </a:p>
        </p:txBody>
      </p:sp>
    </p:spTree>
    <p:extLst>
      <p:ext uri="{BB962C8B-B14F-4D97-AF65-F5344CB8AC3E}">
        <p14:creationId xmlns:p14="http://schemas.microsoft.com/office/powerpoint/2010/main" val="1873899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2026-10-06T14:42:11.4250000Z</dcterms:created>
  <dcterms:modified xsi:type="dcterms:W3CDTF">2026-10-06T14:42:11.4250000Z</dcterms:modified>
</coreProperties>
</file>